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7313B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7313B"/>
                </a:solidFill>
                <a:latin typeface="Calibri"/>
              </a:rPr>
              <a:t>prior_ai_use_1to5 (n = 20)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Students</c:v>
                </c:pt>
              </c:strCache>
            </c:strRef>
          </c:tx>
          <c:spPr>
            <a:solidFill>
              <a:srgbClr val="3C8D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731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7</c:v>
                </c:pt>
                <c:pt idx="4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731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77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770"/>
                    </a:solidFill>
                    <a:latin typeface="Arial"/>
                  </a:rPr>
                  <a:t>Rating (1 = never … 5 = very often)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7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"/>
        </c:scaling>
        <c:delete val="0"/>
        <c:axPos val="l"/>
        <c:majorGridlines>
          <c:spPr>
            <a:ln w="6350" cap="flat">
              <a:solidFill>
                <a:srgbClr val="E3E8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77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770"/>
                    </a:solidFill>
                    <a:latin typeface="Arial"/>
                  </a:rPr>
                  <a:t>Number of students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7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Students</c:v>
                </c:pt>
              </c:strCache>
            </c:strRef>
          </c:tx>
          <c:spPr>
            <a:solidFill>
              <a:srgbClr val="3C8D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731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7</c:v>
                </c:pt>
                <c:pt idx="4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731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77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770"/>
                    </a:solidFill>
                    <a:latin typeface="Arial"/>
                  </a:rPr>
                  <a:t>prior_ai_use_1to5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7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"/>
        </c:scaling>
        <c:delete val="0"/>
        <c:axPos val="l"/>
        <c:majorGridlines>
          <c:spPr>
            <a:ln w="6350" cap="flat">
              <a:solidFill>
                <a:srgbClr val="E3E8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7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week. Three parts: (1) housekeeping about the midterm, (2) doing standard deviation step-by-step in Excel, (3) practice problems using prior_ai_use_1to5 from Dataset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Emphasize: formulas are provided. The skill being tested is choosing the right formula, computing correctly, and interpreting. Edit the formula list to match the actual sheet you'll hand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ReviewWeek_SD_Excel.xlsx (sheet 'SD Steps') and follow along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H5 holds n: =COUNT(B2:B21) = 20. Stress why n − 1: we're estimating from a sample. Show that doing it by hand matches VAR.S.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NOTE: numbers on the following slides use a 20-student example of prior_ai_use_1to5 (see the 'Dataset 1 (example)' sheet). Replace with the real Dataset 1 values before class if they differ.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example variable names with the actual Dataset 1 column names. Quick test: Is there an order? Are gaps equal? Does zero mean 'none of it'? Can you say 'twice as much'?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compute by hand first, then check in Excel. For the median with n = 20 (even), average the 10th and 11th sorted values.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3B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REVIEW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8308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Describing Data: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Center, Spread &amp; z-Scores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0175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Housekeeping  ·  Standard deviation in Excel  ·  Practice with Dataset 1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Plan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4F7F8"/>
          </a:solidFill>
          <a:ln w="12700">
            <a:solidFill>
              <a:srgbClr val="F4F7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490472"/>
            <a:ext cx="457200" cy="457200"/>
          </a:xfrm>
          <a:prstGeom prst="ellipse">
            <a:avLst/>
          </a:prstGeom>
          <a:solidFill>
            <a:srgbClr val="1F4E5A"/>
          </a:solidFill>
          <a:ln w="12700">
            <a:solidFill>
              <a:srgbClr val="1F4E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3716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Housekeeping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73736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expect on the midterm (formula sheet provided)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E6F2EF"/>
          </a:solidFill>
          <a:ln w="12700">
            <a:solidFill>
              <a:srgbClr val="E6F2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679192"/>
            <a:ext cx="457200" cy="457200"/>
          </a:xfrm>
          <a:prstGeom prst="ellipse">
            <a:avLst/>
          </a:prstGeom>
          <a:solidFill>
            <a:srgbClr val="1F4E5A"/>
          </a:solidFill>
          <a:ln w="12700">
            <a:solidFill>
              <a:srgbClr val="1F4E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679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5603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Excel: Standard Deviation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92608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→ SD → z-score → plot, step by step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61188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4F7F8"/>
          </a:solidFill>
          <a:ln w="12700">
            <a:solidFill>
              <a:srgbClr val="F4F7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867912"/>
            <a:ext cx="457200" cy="45720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37490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with Dataset 1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11480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scales · mean, median, mode · shape · SD · z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Housekeeping: The Midterm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503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 NOT need to memorize formulas; I will provide them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E6F2EF"/>
          </a:solidFill>
          <a:ln w="12700">
            <a:solidFill>
              <a:srgbClr val="E6F2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your formula sheet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65960"/>
            <a:ext cx="3611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Mean:  x̄ = Σx / 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Variance:  s² = Σ(x − x̄)² / (n − 1)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deviation:  s = √s²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z-score:  z = (x − x̄) / 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F4F7F8"/>
          </a:solidFill>
          <a:ln w="12700">
            <a:solidFill>
              <a:srgbClr val="F4F7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83480" y="1508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need to know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983480" y="1965960"/>
            <a:ext cx="3611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formula fits the question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plug in numbers and show your steps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interpret the answer in words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measurement scales and distribution shape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4E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3B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8308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 Deviation in Excel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0175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steps you can follow for any variable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Set-Up: One Column per Step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503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 column B (rows 2–21); results in column H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097280"/>
                <a:gridCol w="1737360"/>
                <a:gridCol w="1554480"/>
                <a:gridCol w="1554480"/>
                <a:gridCol w="18288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student_id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prior_ai_use_1to5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− mean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(x − mean)²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z-score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31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=B2-$H$2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31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=C2^2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31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=(B2-$H$2)/$H$8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31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=B3-$H$2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31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=C3^2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31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=(B3-$H$2)/$H$8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 down 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 down 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 down 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246120"/>
            <a:ext cx="8229600" cy="1417320"/>
          </a:xfrm>
          <a:prstGeom prst="roundRect">
            <a:avLst>
              <a:gd name="adj" fmla="val 5161"/>
            </a:avLst>
          </a:prstGeom>
          <a:solidFill>
            <a:srgbClr val="E6F2EF"/>
          </a:solidFill>
          <a:ln w="12700">
            <a:solidFill>
              <a:srgbClr val="E6F2E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336499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Tip: the $ signs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70332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$H$2 is an absolute reference: it always points to the mean, even when you drag the formula down to row 21. Without the $ signs, Excel would shift it to H3, H4, … and your answers would be wrong.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A: Calculate the Variance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503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s² = Σ(x − x̄)² / (n − 1)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44168"/>
            <a:ext cx="457200" cy="457200"/>
          </a:xfrm>
          <a:prstGeom prst="ellipse">
            <a:avLst/>
          </a:prstGeom>
          <a:solidFill>
            <a:srgbClr val="1F4E5A"/>
          </a:solidFill>
          <a:ln w="12700">
            <a:solidFill>
              <a:srgbClr val="1F4E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44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32588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mean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794760" y="1362456"/>
            <a:ext cx="2971800" cy="429768"/>
          </a:xfrm>
          <a:prstGeom prst="roundRect">
            <a:avLst>
              <a:gd name="adj" fmla="val 10638"/>
            </a:avLst>
          </a:prstGeom>
          <a:solidFill>
            <a:srgbClr val="17313B"/>
          </a:solidFill>
          <a:ln w="12700">
            <a:solidFill>
              <a:srgbClr val="1731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904488" y="1362456"/>
            <a:ext cx="27523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H2:  =AVERAGE(B2:B21)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903720" y="13258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3.400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947672"/>
            <a:ext cx="457200" cy="457200"/>
          </a:xfrm>
          <a:prstGeom prst="ellipse">
            <a:avLst/>
          </a:prstGeom>
          <a:solidFill>
            <a:srgbClr val="1F4E5A"/>
          </a:solidFill>
          <a:ln w="12700">
            <a:solidFill>
              <a:srgbClr val="1F4E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1929384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 from the mean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794760" y="1965960"/>
            <a:ext cx="2971800" cy="429768"/>
          </a:xfrm>
          <a:prstGeom prst="roundRect">
            <a:avLst>
              <a:gd name="adj" fmla="val 10638"/>
            </a:avLst>
          </a:prstGeom>
          <a:solidFill>
            <a:srgbClr val="17313B"/>
          </a:solidFill>
          <a:ln w="12700">
            <a:solidFill>
              <a:srgbClr val="1731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904488" y="1965960"/>
            <a:ext cx="27523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C2:  =B2-$H$2   (fill down)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1929384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4 − 3.4 = 0.6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551176"/>
            <a:ext cx="457200" cy="457200"/>
          </a:xfrm>
          <a:prstGeom prst="ellipse">
            <a:avLst/>
          </a:prstGeom>
          <a:solidFill>
            <a:srgbClr val="1F4E5A"/>
          </a:solidFill>
          <a:ln w="12700">
            <a:solidFill>
              <a:srgbClr val="1F4E5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2551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253288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each deviation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794760" y="2569464"/>
            <a:ext cx="2971800" cy="429768"/>
          </a:xfrm>
          <a:prstGeom prst="roundRect">
            <a:avLst>
              <a:gd name="adj" fmla="val 10638"/>
            </a:avLst>
          </a:prstGeom>
          <a:solidFill>
            <a:srgbClr val="17313B"/>
          </a:solidFill>
          <a:ln w="12700">
            <a:solidFill>
              <a:srgbClr val="17313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904488" y="2569464"/>
            <a:ext cx="27523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D2:  =C2^2   (fill down)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903720" y="253288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0.6² = 0.36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154680"/>
            <a:ext cx="457200" cy="457200"/>
          </a:xfrm>
          <a:prstGeom prst="ellipse">
            <a:avLst/>
          </a:prstGeom>
          <a:solidFill>
            <a:srgbClr val="1F4E5A"/>
          </a:solidFill>
          <a:ln w="12700">
            <a:solidFill>
              <a:srgbClr val="1F4E5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051560" y="313639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up the squares (SS)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3794760" y="3172968"/>
            <a:ext cx="2971800" cy="429768"/>
          </a:xfrm>
          <a:prstGeom prst="roundRect">
            <a:avLst>
              <a:gd name="adj" fmla="val 10638"/>
            </a:avLst>
          </a:prstGeom>
          <a:solidFill>
            <a:srgbClr val="17313B"/>
          </a:solidFill>
          <a:ln w="12700">
            <a:solidFill>
              <a:srgbClr val="17313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904488" y="3172968"/>
            <a:ext cx="27523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H6:  =SUM(D2:D21)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903720" y="313639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30.800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3758184"/>
            <a:ext cx="457200" cy="45720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7200" y="3758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1051560" y="3739896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by n − 1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3794760" y="3776472"/>
            <a:ext cx="2971800" cy="429768"/>
          </a:xfrm>
          <a:prstGeom prst="roundRect">
            <a:avLst>
              <a:gd name="adj" fmla="val 10638"/>
            </a:avLst>
          </a:prstGeom>
          <a:solidFill>
            <a:srgbClr val="17313B"/>
          </a:solidFill>
          <a:ln w="12700">
            <a:solidFill>
              <a:srgbClr val="17313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904488" y="3776472"/>
            <a:ext cx="27523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H7:  =H6/(H5-1)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903720" y="3739896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30.8 / 19 = 1.621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work: </a:t>
            </a:r>
            <a:pPr indent="0" marL="0">
              <a:buNone/>
            </a:pPr>
            <a:r>
              <a:rPr lang="en-US" sz="1300" dirty="0">
                <a:solidFill>
                  <a:srgbClr val="1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=VAR.S(B2:B21) should give the same 1.621  (VAR.S = sample; VAR.P = population)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B: Standard Deviation &amp; z-Score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611880"/>
          </a:xfrm>
          <a:prstGeom prst="roundRect">
            <a:avLst>
              <a:gd name="adj" fmla="val 2025"/>
            </a:avLst>
          </a:prstGeom>
          <a:solidFill>
            <a:srgbClr val="F4F7F8"/>
          </a:solidFill>
          <a:ln w="12700">
            <a:solidFill>
              <a:srgbClr val="F4F7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 deviation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00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root of the variance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3474720" cy="411480"/>
          </a:xfrm>
          <a:prstGeom prst="roundRect">
            <a:avLst>
              <a:gd name="adj" fmla="val 11111"/>
            </a:avLst>
          </a:prstGeom>
          <a:solidFill>
            <a:srgbClr val="17313B"/>
          </a:solidFill>
          <a:ln w="12700">
            <a:solidFill>
              <a:srgbClr val="1731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95528" y="1965960"/>
            <a:ext cx="3255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H8:  =SQRT(H7)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2468880"/>
            <a:ext cx="3474720" cy="411480"/>
          </a:xfrm>
          <a:prstGeom prst="roundRect">
            <a:avLst>
              <a:gd name="adj" fmla="val 11111"/>
            </a:avLst>
          </a:prstGeom>
          <a:solidFill>
            <a:srgbClr val="17313B"/>
          </a:solidFill>
          <a:ln w="12700">
            <a:solidFill>
              <a:srgbClr val="17313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95528" y="2468880"/>
            <a:ext cx="3255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check: =STDEV.S(B2:B21)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0175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4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1.273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8862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typically sit about 1.27 points from the mean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3931920" cy="3611880"/>
          </a:xfrm>
          <a:prstGeom prst="roundRect">
            <a:avLst>
              <a:gd name="adj" fmla="val 2025"/>
            </a:avLst>
          </a:prstGeom>
          <a:solidFill>
            <a:srgbClr val="E6F2EF"/>
          </a:solidFill>
          <a:ln w="12700">
            <a:solidFill>
              <a:srgbClr val="E6F2E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8348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z-score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983480" y="1600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SDs a value is from the mean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983480" y="1965960"/>
            <a:ext cx="3474720" cy="411480"/>
          </a:xfrm>
          <a:prstGeom prst="roundRect">
            <a:avLst>
              <a:gd name="adj" fmla="val 11111"/>
            </a:avLst>
          </a:prstGeom>
          <a:solidFill>
            <a:srgbClr val="17313B"/>
          </a:solidFill>
          <a:ln w="12700">
            <a:solidFill>
              <a:srgbClr val="17313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93208" y="1965960"/>
            <a:ext cx="3255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E2:  =(B2-$H$2)/$H$8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983480" y="2468880"/>
            <a:ext cx="3474720" cy="411480"/>
          </a:xfrm>
          <a:prstGeom prst="roundRect">
            <a:avLst>
              <a:gd name="adj" fmla="val 11111"/>
            </a:avLst>
          </a:prstGeom>
          <a:solidFill>
            <a:srgbClr val="17313B"/>
          </a:solidFill>
          <a:ln w="12700">
            <a:solidFill>
              <a:srgbClr val="17313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93208" y="2468880"/>
            <a:ext cx="3255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or:  =STANDARDIZE(B2,$H$2,$H$8)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983480" y="301752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1 rated 4: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(4 − 3.4) / 1.273 = 0.47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1F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about half an SD above the mean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C: Plot the Distribution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57200" cy="457200"/>
          </a:xfrm>
          <a:prstGeom prst="ellipse">
            <a:avLst/>
          </a:prstGeom>
          <a:solidFill>
            <a:srgbClr val="1F4E5A"/>
          </a:solidFill>
          <a:ln w="12700">
            <a:solidFill>
              <a:srgbClr val="1F4E5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1247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frequency table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43560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1–5 in J2:J6; in K2:  =COUNTIF($B$2:$B$21,J2), fill down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039112"/>
            <a:ext cx="457200" cy="457200"/>
          </a:xfrm>
          <a:prstGeom prst="ellipse">
            <a:avLst/>
          </a:prstGeom>
          <a:solidFill>
            <a:srgbClr val="1F4E5A"/>
          </a:solidFill>
          <a:ln w="12700">
            <a:solidFill>
              <a:srgbClr val="1F4E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02082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the chart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23317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J1:K6 → Insert → Column chart (Histogram for continuous data)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935224"/>
            <a:ext cx="457200" cy="457200"/>
          </a:xfrm>
          <a:prstGeom prst="ellipse">
            <a:avLst/>
          </a:prstGeom>
          <a:solidFill>
            <a:srgbClr val="1F4E5A"/>
          </a:solidFill>
          <a:ln w="12700">
            <a:solidFill>
              <a:srgbClr val="1F4E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935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291693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it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22783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Elements (+) → Axis Titles and Chart Title; gap width ≈ 40%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831336"/>
            <a:ext cx="457200" cy="457200"/>
          </a:xfrm>
          <a:prstGeom prst="ellipse">
            <a:avLst/>
          </a:prstGeom>
          <a:solidFill>
            <a:srgbClr val="1F4E5A"/>
          </a:solidFill>
          <a:ln w="12700">
            <a:solidFill>
              <a:srgbClr val="1F4E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831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8130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the mean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412394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note or line at x̄ = 3.4, then describe the shape</a:t>
            </a:r>
            <a:endParaRPr lang="en-US" sz="12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4572000" y="1097280"/>
          <a:ext cx="411480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4E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3B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8308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with Dataset 1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0175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scales  ·  Center &amp; shape  ·  SD  ·  z-scores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Measurement Scales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503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one variable in Dataset 1 for each scale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920240" cy="2971800"/>
          </a:xfrm>
          <a:prstGeom prst="roundRect">
            <a:avLst>
              <a:gd name="adj" fmla="val 3810"/>
            </a:avLst>
          </a:prstGeom>
          <a:solidFill>
            <a:srgbClr val="F4F7F8"/>
          </a:solidFill>
          <a:ln w="12700">
            <a:solidFill>
              <a:srgbClr val="F4F7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1463040"/>
            <a:ext cx="457200" cy="457200"/>
          </a:xfrm>
          <a:prstGeom prst="ellipse">
            <a:avLst/>
          </a:prstGeom>
          <a:solidFill>
            <a:srgbClr val="3C8D93"/>
          </a:solidFill>
          <a:ln w="12700">
            <a:solidFill>
              <a:srgbClr val="3C8D9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887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011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3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Nominal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77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Categories, no order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major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3291840"/>
            <a:ext cx="1700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Business, Nursing, CS…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0" y="1325880"/>
            <a:ext cx="1920240" cy="2971800"/>
          </a:xfrm>
          <a:prstGeom prst="roundRect">
            <a:avLst>
              <a:gd name="adj" fmla="val 3810"/>
            </a:avLst>
          </a:prstGeom>
          <a:solidFill>
            <a:srgbClr val="F4F7F8"/>
          </a:solidFill>
          <a:ln w="12700">
            <a:solidFill>
              <a:srgbClr val="F4F7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1463040"/>
            <a:ext cx="457200" cy="457200"/>
          </a:xfrm>
          <a:prstGeom prst="ellipse">
            <a:avLst/>
          </a:prstGeom>
          <a:solidFill>
            <a:srgbClr val="1F4E5A"/>
          </a:solidFill>
          <a:ln w="12700">
            <a:solidFill>
              <a:srgbClr val="1F4E5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918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651760" y="2011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3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Ordinal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2651760" y="2377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Ordered, gaps not equal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651760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class_standing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670048" y="3291840"/>
            <a:ext cx="1700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Freshman &lt; Sophomore &lt; Junior &lt; Senior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1325880"/>
            <a:ext cx="1920240" cy="2971800"/>
          </a:xfrm>
          <a:prstGeom prst="roundRect">
            <a:avLst>
              <a:gd name="adj" fmla="val 3810"/>
            </a:avLst>
          </a:prstGeom>
          <a:solidFill>
            <a:srgbClr val="F4F7F8"/>
          </a:solidFill>
          <a:ln w="12700">
            <a:solidFill>
              <a:srgbClr val="F4F7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94960" y="1463040"/>
            <a:ext cx="457200" cy="457200"/>
          </a:xfrm>
          <a:prstGeom prst="ellipse">
            <a:avLst/>
          </a:prstGeom>
          <a:solidFill>
            <a:srgbClr val="F3B61F"/>
          </a:solidFill>
          <a:ln w="12700">
            <a:solidFill>
              <a:srgbClr val="F3B61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39496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754880" y="2011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3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Interval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4754880" y="2377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gaps, no true zero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754880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birth_year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773168" y="3291840"/>
            <a:ext cx="1700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2004 − 2002 = 2 yrs, but 0 AD ≠ 'no time'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766560" y="1325880"/>
            <a:ext cx="1920240" cy="2971800"/>
          </a:xfrm>
          <a:prstGeom prst="roundRect">
            <a:avLst>
              <a:gd name="adj" fmla="val 3810"/>
            </a:avLst>
          </a:prstGeom>
          <a:solidFill>
            <a:srgbClr val="F4F7F8"/>
          </a:solidFill>
          <a:ln w="12700">
            <a:solidFill>
              <a:srgbClr val="F4F7F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98080" y="1463040"/>
            <a:ext cx="457200" cy="45720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49808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0" y="2011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3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Ratio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0" y="2377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gaps + true zero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858000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study_hours_week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876288" y="3291840"/>
            <a:ext cx="1700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none; 10 hrs is twice 5 hrs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prior_ai_use_1to5 fit? </a:t>
            </a:r>
            <a:pPr indent="0" marL="0">
              <a:buNone/>
            </a:pPr>
            <a:r>
              <a:rPr lang="en-US" sz="1300" dirty="0">
                <a:solidFill>
                  <a:srgbClr val="1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 (a 1–5 rating). We often treat it as interval to compute a mean and SD.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Practice: Mean, Median &amp; Mode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503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Variable: prior_ai_use_1to5  (1 = never … 5 = very often), n = 20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34747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280160"/>
                <a:gridCol w="10972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 (x)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 (f)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 · 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297680" y="1325880"/>
            <a:ext cx="4389120" cy="960120"/>
          </a:xfrm>
          <a:prstGeom prst="roundRect">
            <a:avLst>
              <a:gd name="adj" fmla="val 7619"/>
            </a:avLst>
          </a:prstGeom>
          <a:solidFill>
            <a:srgbClr val="E6F2EF"/>
          </a:solidFill>
          <a:ln w="12700">
            <a:solidFill>
              <a:srgbClr val="E6F2E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389120" y="1325880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3.40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5669280" y="14173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669280" y="17099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 ÷ 20 = 3.40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669280" y="19659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4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=AVERAGE(B2:B21)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297680" y="2441448"/>
            <a:ext cx="4389120" cy="960120"/>
          </a:xfrm>
          <a:prstGeom prst="roundRect">
            <a:avLst>
              <a:gd name="adj" fmla="val 7619"/>
            </a:avLst>
          </a:prstGeom>
          <a:solidFill>
            <a:srgbClr val="F4F7F8"/>
          </a:solidFill>
          <a:ln w="12700">
            <a:solidFill>
              <a:srgbClr val="F4F7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389120" y="2441448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4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5669280" y="253288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669280" y="28254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10th &amp; 11th sorted values are both 4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669280" y="30815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4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=MEDIAN(B2:B21)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297680" y="3557016"/>
            <a:ext cx="4389120" cy="960120"/>
          </a:xfrm>
          <a:prstGeom prst="roundRect">
            <a:avLst>
              <a:gd name="adj" fmla="val 7619"/>
            </a:avLst>
          </a:prstGeom>
          <a:solidFill>
            <a:srgbClr val="F4F7F8"/>
          </a:solidFill>
          <a:ln w="12700">
            <a:solidFill>
              <a:srgbClr val="F4F7F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89120" y="3557016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4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17" name="Text 14"/>
          <p:cNvSpPr txBox="1"/>
          <p:nvPr/>
        </p:nvSpPr>
        <p:spPr>
          <a:xfrm>
            <a:off x="5669280" y="364845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5669280" y="39410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appears most often (7 students)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5669280" y="419709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4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=MODE.SNGL(B2:B21)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Type of Distribution Is It?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51560"/>
          <a:ext cx="42062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4937760" y="1051560"/>
            <a:ext cx="3749040" cy="1234440"/>
          </a:xfrm>
          <a:prstGeom prst="roundRect">
            <a:avLst>
              <a:gd name="adj" fmla="val 5926"/>
            </a:avLst>
          </a:prstGeom>
          <a:solidFill>
            <a:srgbClr val="E6F2EF"/>
          </a:solidFill>
          <a:ln w="12700">
            <a:solidFill>
              <a:srgbClr val="E6F2E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120640" y="114300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3.4  &lt;  Median 4  =  Mode 4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mean is pulled toward the low ratings (the tail).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937760" y="24231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Negatively (left) skewed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4937760" y="28803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students report frequent AI use; a few never use it.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3429000"/>
          <a:ext cx="37490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1945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&lt; Median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 (negative) skew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≈ Median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Symmetric / normal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&gt; Median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 (positive) skew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Practice: Calculate the SD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503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frequency table so you don't repeat the same value 20 times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475488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640080"/>
                <a:gridCol w="1005840"/>
                <a:gridCol w="109728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− x̄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(x − x̄)²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 · (x − x̄)²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11.52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45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0" y="1325880"/>
            <a:ext cx="3200400" cy="2286000"/>
          </a:xfrm>
          <a:prstGeom prst="roundRect">
            <a:avLst>
              <a:gd name="adj" fmla="val 3200"/>
            </a:avLst>
          </a:prstGeom>
          <a:solidFill>
            <a:srgbClr val="E6F2EF"/>
          </a:solidFill>
          <a:ln w="12700">
            <a:solidFill>
              <a:srgbClr val="E6F2E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715000" y="1463040"/>
            <a:ext cx="2834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s² = 30.80 / (20 − 1)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= 1.621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1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deviation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√1.621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= 1.273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0" y="3749040"/>
            <a:ext cx="3200400" cy="411480"/>
          </a:xfrm>
          <a:prstGeom prst="roundRect">
            <a:avLst>
              <a:gd name="adj" fmla="val 11111"/>
            </a:avLst>
          </a:prstGeom>
          <a:solidFill>
            <a:srgbClr val="17313B"/>
          </a:solidFill>
          <a:ln w="12700">
            <a:solidFill>
              <a:srgbClr val="17313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596128" y="3749040"/>
            <a:ext cx="2980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=STDEV.S(B2:B21) → 1.273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Practice: Calculate the z-Score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503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(x − x̄) / s   with  x̄ = 3.40,  s = 1.273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51206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005840"/>
                <a:gridCol w="914400"/>
                <a:gridCol w="22860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 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− x̄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45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-1.89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~1.9 SD below the mean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45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 SD below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45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slightly below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4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about ½ SD above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4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~1.3 SD above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1325880"/>
            <a:ext cx="2834640" cy="2468880"/>
          </a:xfrm>
          <a:prstGeom prst="roundRect">
            <a:avLst>
              <a:gd name="adj" fmla="val 2963"/>
            </a:avLst>
          </a:prstGeom>
          <a:solidFill>
            <a:srgbClr val="F4F7F8"/>
          </a:solidFill>
          <a:ln w="12700">
            <a:solidFill>
              <a:srgbClr val="F4F7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035040" y="1463040"/>
            <a:ext cx="2560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who never uses AI (x = 1):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(1 − 3.4) / 1.273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= −1.89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it: </a:t>
            </a:r>
            <a:pPr indent="0" marL="0">
              <a:buNone/>
            </a:pPr>
            <a:r>
              <a:rPr lang="en-US" sz="1300" dirty="0">
                <a:solidFill>
                  <a:srgbClr val="1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z = below the mean, positive z = above; |z| &gt; 2 is unusual.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4E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3B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MIDTERM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03120"/>
            <a:ext cx="7863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scale: nominal, ordinal, interval, or ratio (and say why)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mean, median, and mode, then use them to describe the shape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→ SD using n − 1, showing each step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z-score: compute it AND explain it in words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Formulas are provided; practice choosing and using them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 Week: Descriptive Statistics</dc:title>
  <dc:subject>PptxGenJS Presentation</dc:subject>
  <dc:creator>PptxGenJS</dc:creator>
  <cp:lastModifiedBy>PptxGenJS</cp:lastModifiedBy>
  <cp:revision>1</cp:revision>
  <dcterms:created xsi:type="dcterms:W3CDTF">2026-09-28T15:47:40Z</dcterms:created>
  <dcterms:modified xsi:type="dcterms:W3CDTF">2026-09-28T15:47:40Z</dcterms:modified>
</cp:coreProperties>
</file>